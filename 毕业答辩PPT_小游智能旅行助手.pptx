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65A82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小游智能旅行助手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A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基于AI的个性化旅行规划平台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0" y="3474720"/>
            <a:ext cx="2743200" cy="27432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毕业设计答辩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2026年4月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554480" y="13716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项目概述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54480" y="1737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项目背景与目标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84632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669280" y="13716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669280" y="1737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整体架构设计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554480" y="22860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技术选型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2651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后端与前端技术栈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669280" y="22860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669280" y="2651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20个功能模块详解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200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554480" y="32004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AI对话系统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3566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流式响应技术实现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3200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669280" y="32004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数据库设计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669280" y="3566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ER图与数据表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4114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554480" y="41148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性能优化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54480" y="4480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缓存与限流机制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4114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5669280" y="41148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项目总结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669280" y="4480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亮点与展望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项目概述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182880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旅游业蓬勃发展，个性化需求日益增长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传统旅行规划耗时费力，信息分散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AI技术成熟，智能助手成为趋势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182880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项目目标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937760" y="182880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打造AI驱动的个性化旅行规划平台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提供智能问答、行程规划、景点推荐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整合航班、酒店、天气等出行信息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8229600" cy="16459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3383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项目定位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38404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智能旅游助手（Travel Assistant）是一个AI驱动的个性化旅行规划平台，通过人工智能技术为用户提供智能化的旅行咨询、行程规划和景点推荐服务。项目采用前后端分离架构，前端基于Next.js 14构建，后端采用Flask微服务架构，深度集成Kimi、智谱、OpenAI等多个AI大模型。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系统架构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客户端层 (Client Layer)  -  用户Web前端 (Next.js 14) | 管理Web前端 (Ant Design) | 移动端 (PWA)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0" y="1920240"/>
            <a:ext cx="0" cy="274320"/>
          </a:xfrm>
          <a:prstGeom prst="line">
            <a:avLst/>
          </a:prstGeom>
          <a:noFill/>
          <a:ln w="25400">
            <a:solidFill>
              <a:srgbClr val="7180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194560"/>
            <a:ext cx="8229600" cy="640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194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网关层 (Gateway Layer)  -  API Gateway  |  请求路由  |  负载均衡  |  限流熔断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2834640"/>
            <a:ext cx="0" cy="274320"/>
          </a:xfrm>
          <a:prstGeom prst="line">
            <a:avLst/>
          </a:prstGeom>
          <a:noFill/>
          <a:ln w="25400">
            <a:solidFill>
              <a:srgbClr val="71809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108960"/>
            <a:ext cx="82296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1089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应用层 (Application Layer)  -  Flask主应用  |  AI服务模块  |  数据服务  |  通知服务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0" y="3931920"/>
            <a:ext cx="0" cy="274320"/>
          </a:xfrm>
          <a:prstGeom prst="line">
            <a:avLst/>
          </a:prstGeom>
          <a:noFill/>
          <a:ln w="25400">
            <a:solidFill>
              <a:srgbClr val="71809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 (Data Layer)  -  主数据库 (SQLite/MySQL)  |  缓存数据库 (Redis)  |  文件存储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技术选型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80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后端技术栈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73152" cy="32004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28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Flask 2.3.3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651760" y="18288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轻量级Web框架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286000"/>
            <a:ext cx="73152" cy="32004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286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SQLAlchemy 2.0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51760" y="22860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ORM数据库映射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743200"/>
            <a:ext cx="73152" cy="32004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743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SQLite/MySQL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51760" y="27432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主数据库存储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200400"/>
            <a:ext cx="73152" cy="32004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200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 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51760" y="32004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缓存与限流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657600"/>
            <a:ext cx="73152" cy="32004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657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JWT Auth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651760" y="36576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身份认证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114800"/>
            <a:ext cx="73152" cy="32004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114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Kimi/智谱/OAI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651760" y="41148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AI大模型集成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37760" y="1280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前端技术栈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4937760" y="1828800"/>
            <a:ext cx="73152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5120640" y="1828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Next.js 14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49440" y="18288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SSR框架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37760" y="2286000"/>
            <a:ext cx="73152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5120640" y="2286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18.2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949440" y="22860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UI组件库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937760" y="2743200"/>
            <a:ext cx="73152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3" name="Text 31"/>
          <p:cNvSpPr/>
          <p:nvPr/>
        </p:nvSpPr>
        <p:spPr>
          <a:xfrm>
            <a:off x="5120640" y="2743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Zustand 4.4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949440" y="27432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状态管理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937760" y="3200400"/>
            <a:ext cx="73152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6" name="Text 34"/>
          <p:cNvSpPr/>
          <p:nvPr/>
        </p:nvSpPr>
        <p:spPr>
          <a:xfrm>
            <a:off x="5120640" y="3200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Axios 1.5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949440" y="32004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HTTP客户端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937760" y="3657600"/>
            <a:ext cx="73152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9" name="Text 37"/>
          <p:cNvSpPr/>
          <p:nvPr/>
        </p:nvSpPr>
        <p:spPr>
          <a:xfrm>
            <a:off x="5120640" y="3657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TypeScript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949440" y="36576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类型安全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937760" y="4114800"/>
            <a:ext cx="73152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2" name="Text 40"/>
          <p:cNvSpPr/>
          <p:nvPr/>
        </p:nvSpPr>
        <p:spPr>
          <a:xfrm>
            <a:off x="5120640" y="4114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Tailwind CSS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949440" y="41148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样式框架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核心功能模块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554480" cy="15544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1554480" cy="73152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4173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9659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用户系统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22860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注册登录/会员等级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148840" y="1188720"/>
            <a:ext cx="1554480" cy="15544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148840" y="1188720"/>
            <a:ext cx="1554480" cy="73152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14173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148840" y="19659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景点管理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148840" y="22860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列表/详情/推荐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840480" y="1188720"/>
            <a:ext cx="1554480" cy="15544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840480" y="1188720"/>
            <a:ext cx="1554480" cy="73152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41732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840480" y="19659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AI对话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3840480" y="22860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智能问答/流式响应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5532120" y="1188720"/>
            <a:ext cx="1554480" cy="15544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532120" y="1188720"/>
            <a:ext cx="1554480" cy="73152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41732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32120" y="19659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行程规划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5532120" y="22860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AI生成/手动规划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7223760" y="1188720"/>
            <a:ext cx="1554480" cy="15544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223760" y="1188720"/>
            <a:ext cx="1554480" cy="73152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1417320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223760" y="19659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酒店预订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7223760" y="22860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搜索/房型/预订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457200" y="3017520"/>
            <a:ext cx="1554480" cy="15544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57200" y="3017520"/>
            <a:ext cx="1554480" cy="73152"/>
          </a:xfrm>
          <a:prstGeom prst="rect">
            <a:avLst/>
          </a:prstGeom>
          <a:solidFill>
            <a:srgbClr val="00A8E8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3246120"/>
            <a:ext cx="457200" cy="4572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57200" y="3794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机票预订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457200" y="41148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航班/特价票</a:t>
            </a:r>
            <a:endParaRPr lang="en-US" sz="900" dirty="0"/>
          </a:p>
        </p:txBody>
      </p:sp>
      <p:sp>
        <p:nvSpPr>
          <p:cNvPr id="34" name="Shape 26"/>
          <p:cNvSpPr/>
          <p:nvPr/>
        </p:nvSpPr>
        <p:spPr>
          <a:xfrm>
            <a:off x="2148840" y="3017520"/>
            <a:ext cx="1554480" cy="15544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2148840" y="3017520"/>
            <a:ext cx="1554480" cy="73152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97480" y="3246120"/>
            <a:ext cx="457200" cy="45720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2148840" y="3794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用户收藏</a:t>
            </a:r>
            <a:endParaRPr lang="en-US" sz="1200" dirty="0"/>
          </a:p>
        </p:txBody>
      </p:sp>
      <p:sp>
        <p:nvSpPr>
          <p:cNvPr id="38" name="Text 29"/>
          <p:cNvSpPr/>
          <p:nvPr/>
        </p:nvSpPr>
        <p:spPr>
          <a:xfrm>
            <a:off x="2148840" y="41148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收藏/足迹</a:t>
            </a:r>
            <a:endParaRPr lang="en-US" sz="900" dirty="0"/>
          </a:p>
        </p:txBody>
      </p:sp>
      <p:sp>
        <p:nvSpPr>
          <p:cNvPr id="39" name="Shape 30"/>
          <p:cNvSpPr/>
          <p:nvPr/>
        </p:nvSpPr>
        <p:spPr>
          <a:xfrm>
            <a:off x="3840480" y="3017520"/>
            <a:ext cx="1554480" cy="15544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3840480" y="3017520"/>
            <a:ext cx="1554480" cy="73152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89120" y="3246120"/>
            <a:ext cx="457200" cy="45720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3840480" y="3794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旅行游记</a:t>
            </a:r>
            <a:endParaRPr lang="en-US" sz="1200" dirty="0"/>
          </a:p>
        </p:txBody>
      </p:sp>
      <p:sp>
        <p:nvSpPr>
          <p:cNvPr id="43" name="Text 33"/>
          <p:cNvSpPr/>
          <p:nvPr/>
        </p:nvSpPr>
        <p:spPr>
          <a:xfrm>
            <a:off x="3840480" y="41148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发布/点赞/评论</a:t>
            </a:r>
            <a:endParaRPr lang="en-US" sz="900" dirty="0"/>
          </a:p>
        </p:txBody>
      </p:sp>
      <p:sp>
        <p:nvSpPr>
          <p:cNvPr id="44" name="Shape 34"/>
          <p:cNvSpPr/>
          <p:nvPr/>
        </p:nvSpPr>
        <p:spPr>
          <a:xfrm>
            <a:off x="5532120" y="3017520"/>
            <a:ext cx="1554480" cy="15544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5" name="Shape 35"/>
          <p:cNvSpPr/>
          <p:nvPr/>
        </p:nvSpPr>
        <p:spPr>
          <a:xfrm>
            <a:off x="5532120" y="3017520"/>
            <a:ext cx="1554480" cy="73152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80760" y="3246120"/>
            <a:ext cx="457200" cy="457200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5532120" y="3794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优惠券</a:t>
            </a:r>
            <a:endParaRPr lang="en-US" sz="1200" dirty="0"/>
          </a:p>
        </p:txBody>
      </p:sp>
      <p:sp>
        <p:nvSpPr>
          <p:cNvPr id="48" name="Text 37"/>
          <p:cNvSpPr/>
          <p:nvPr/>
        </p:nvSpPr>
        <p:spPr>
          <a:xfrm>
            <a:off x="5532120" y="41148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领取/使用/验证</a:t>
            </a:r>
            <a:endParaRPr lang="en-US" sz="900" dirty="0"/>
          </a:p>
        </p:txBody>
      </p:sp>
      <p:sp>
        <p:nvSpPr>
          <p:cNvPr id="49" name="Shape 38"/>
          <p:cNvSpPr/>
          <p:nvPr/>
        </p:nvSpPr>
        <p:spPr>
          <a:xfrm>
            <a:off x="7223760" y="3017520"/>
            <a:ext cx="1554480" cy="15544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0" name="Shape 39"/>
          <p:cNvSpPr/>
          <p:nvPr/>
        </p:nvSpPr>
        <p:spPr>
          <a:xfrm>
            <a:off x="7223760" y="3017520"/>
            <a:ext cx="1554480" cy="73152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5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2400" y="3246120"/>
            <a:ext cx="457200" cy="457200"/>
          </a:xfrm>
          <a:prstGeom prst="rect">
            <a:avLst/>
          </a:prstGeom>
        </p:spPr>
      </p:pic>
      <p:sp>
        <p:nvSpPr>
          <p:cNvPr id="52" name="Text 40"/>
          <p:cNvSpPr/>
          <p:nvPr/>
        </p:nvSpPr>
        <p:spPr>
          <a:xfrm>
            <a:off x="7223760" y="3794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天气查询</a:t>
            </a:r>
            <a:endParaRPr lang="en-US" sz="1200" dirty="0"/>
          </a:p>
        </p:txBody>
      </p:sp>
      <p:sp>
        <p:nvSpPr>
          <p:cNvPr id="53" name="Text 41"/>
          <p:cNvSpPr/>
          <p:nvPr/>
        </p:nvSpPr>
        <p:spPr>
          <a:xfrm>
            <a:off x="7223760" y="41148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实时天气/预报</a:t>
            </a:r>
            <a:endParaRPr lang="en-US" sz="900" dirty="0"/>
          </a:p>
        </p:txBody>
      </p:sp>
      <p:sp>
        <p:nvSpPr>
          <p:cNvPr id="54" name="Text 42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共计 20 个功能模块，覆盖旅游全场景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AI对话系统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3657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技术特点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8288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多模型支持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51560" y="2148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Kimi / 智谱 / OpenAI 自动降级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56032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51560" y="2560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流式响应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051560" y="2880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SSE技术实现逐字显示</a:t>
            </a:r>
            <a:endParaRPr 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9184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51560" y="3291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联网搜索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051560" y="3611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实时获取景点最新信息</a:t>
            </a:r>
            <a:endParaRPr lang="en-US" sz="11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023360"/>
            <a:ext cx="320040" cy="3200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51560" y="4023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P0-P3优先级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1051560" y="4343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信息分层，重要信息优先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4754880" y="1097280"/>
            <a:ext cx="3931920" cy="36576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9" name="Text 13"/>
          <p:cNvSpPr/>
          <p:nvPr/>
        </p:nvSpPr>
        <p:spPr>
          <a:xfrm>
            <a:off x="4937760" y="1280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对话流程</a:t>
            </a:r>
            <a:endParaRPr lang="en-US" sz="1800" dirty="0"/>
          </a:p>
        </p:txBody>
      </p:sp>
      <p:sp>
        <p:nvSpPr>
          <p:cNvPr id="20" name="Shape 14"/>
          <p:cNvSpPr/>
          <p:nvPr/>
        </p:nvSpPr>
        <p:spPr>
          <a:xfrm>
            <a:off x="5029200" y="1828800"/>
            <a:ext cx="320040" cy="320040"/>
          </a:xfrm>
          <a:prstGeom prst="ellipse">
            <a:avLst/>
          </a:prstGeom>
          <a:solidFill>
            <a:srgbClr val="00A8E8"/>
          </a:solidFill>
          <a:ln/>
        </p:spPr>
      </p:sp>
      <p:sp>
        <p:nvSpPr>
          <p:cNvPr id="21" name="Text 15"/>
          <p:cNvSpPr/>
          <p:nvPr/>
        </p:nvSpPr>
        <p:spPr>
          <a:xfrm>
            <a:off x="5029200" y="1828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5440680" y="18288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用户发送消息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5189220" y="2148840"/>
            <a:ext cx="0" cy="228600"/>
          </a:xfrm>
          <a:prstGeom prst="line">
            <a:avLst/>
          </a:prstGeom>
          <a:noFill/>
          <a:ln w="12700">
            <a:solidFill>
              <a:srgbClr val="00A8E8"/>
            </a:solidFill>
            <a:prstDash val="dash"/>
          </a:ln>
        </p:spPr>
      </p:sp>
      <p:sp>
        <p:nvSpPr>
          <p:cNvPr id="24" name="Shape 18"/>
          <p:cNvSpPr/>
          <p:nvPr/>
        </p:nvSpPr>
        <p:spPr>
          <a:xfrm>
            <a:off x="5029200" y="2377440"/>
            <a:ext cx="320040" cy="320040"/>
          </a:xfrm>
          <a:prstGeom prst="ellipse">
            <a:avLst/>
          </a:prstGeom>
          <a:solidFill>
            <a:srgbClr val="00A8E8"/>
          </a:solidFill>
          <a:ln/>
        </p:spPr>
      </p:sp>
      <p:sp>
        <p:nvSpPr>
          <p:cNvPr id="25" name="Text 19"/>
          <p:cNvSpPr/>
          <p:nvPr/>
        </p:nvSpPr>
        <p:spPr>
          <a:xfrm>
            <a:off x="5029200" y="2377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440680" y="23774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AI接收并处理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5189220" y="2697480"/>
            <a:ext cx="0" cy="228600"/>
          </a:xfrm>
          <a:prstGeom prst="line">
            <a:avLst/>
          </a:prstGeom>
          <a:noFill/>
          <a:ln w="12700">
            <a:solidFill>
              <a:srgbClr val="00A8E8"/>
            </a:solidFill>
            <a:prstDash val="dash"/>
          </a:ln>
        </p:spPr>
      </p:sp>
      <p:sp>
        <p:nvSpPr>
          <p:cNvPr id="28" name="Shape 22"/>
          <p:cNvSpPr/>
          <p:nvPr/>
        </p:nvSpPr>
        <p:spPr>
          <a:xfrm>
            <a:off x="5029200" y="2926080"/>
            <a:ext cx="320040" cy="320040"/>
          </a:xfrm>
          <a:prstGeom prst="ellipse">
            <a:avLst/>
          </a:prstGeom>
          <a:solidFill>
            <a:srgbClr val="00A8E8"/>
          </a:solidFill>
          <a:ln/>
        </p:spPr>
      </p:sp>
      <p:sp>
        <p:nvSpPr>
          <p:cNvPr id="29" name="Text 23"/>
          <p:cNvSpPr/>
          <p:nvPr/>
        </p:nvSpPr>
        <p:spPr>
          <a:xfrm>
            <a:off x="5029200" y="2926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5440680" y="29260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调用联网搜索</a:t>
            </a:r>
            <a:endParaRPr lang="en-US" sz="1300" dirty="0"/>
          </a:p>
        </p:txBody>
      </p:sp>
      <p:sp>
        <p:nvSpPr>
          <p:cNvPr id="31" name="Shape 25"/>
          <p:cNvSpPr/>
          <p:nvPr/>
        </p:nvSpPr>
        <p:spPr>
          <a:xfrm>
            <a:off x="5189220" y="3246120"/>
            <a:ext cx="0" cy="228600"/>
          </a:xfrm>
          <a:prstGeom prst="line">
            <a:avLst/>
          </a:prstGeom>
          <a:noFill/>
          <a:ln w="12700">
            <a:solidFill>
              <a:srgbClr val="00A8E8"/>
            </a:solidFill>
            <a:prstDash val="dash"/>
          </a:ln>
        </p:spPr>
      </p:sp>
      <p:sp>
        <p:nvSpPr>
          <p:cNvPr id="32" name="Shape 26"/>
          <p:cNvSpPr/>
          <p:nvPr/>
        </p:nvSpPr>
        <p:spPr>
          <a:xfrm>
            <a:off x="5029200" y="3474720"/>
            <a:ext cx="320040" cy="320040"/>
          </a:xfrm>
          <a:prstGeom prst="ellipse">
            <a:avLst/>
          </a:prstGeom>
          <a:solidFill>
            <a:srgbClr val="00A8E8"/>
          </a:solidFill>
          <a:ln/>
        </p:spPr>
      </p:sp>
      <p:sp>
        <p:nvSpPr>
          <p:cNvPr id="33" name="Text 27"/>
          <p:cNvSpPr/>
          <p:nvPr/>
        </p:nvSpPr>
        <p:spPr>
          <a:xfrm>
            <a:off x="5029200" y="3474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5440680" y="34747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生成回复内容</a:t>
            </a:r>
            <a:endParaRPr lang="en-US" sz="1300" dirty="0"/>
          </a:p>
        </p:txBody>
      </p:sp>
      <p:sp>
        <p:nvSpPr>
          <p:cNvPr id="35" name="Shape 29"/>
          <p:cNvSpPr/>
          <p:nvPr/>
        </p:nvSpPr>
        <p:spPr>
          <a:xfrm>
            <a:off x="5189220" y="3794760"/>
            <a:ext cx="0" cy="228600"/>
          </a:xfrm>
          <a:prstGeom prst="line">
            <a:avLst/>
          </a:prstGeom>
          <a:noFill/>
          <a:ln w="12700">
            <a:solidFill>
              <a:srgbClr val="00A8E8"/>
            </a:solidFill>
            <a:prstDash val="dash"/>
          </a:ln>
        </p:spPr>
      </p:sp>
      <p:sp>
        <p:nvSpPr>
          <p:cNvPr id="36" name="Shape 30"/>
          <p:cNvSpPr/>
          <p:nvPr/>
        </p:nvSpPr>
        <p:spPr>
          <a:xfrm>
            <a:off x="5029200" y="4023360"/>
            <a:ext cx="320040" cy="320040"/>
          </a:xfrm>
          <a:prstGeom prst="ellipse">
            <a:avLst/>
          </a:prstGeom>
          <a:solidFill>
            <a:srgbClr val="00A8E8"/>
          </a:solidFill>
          <a:ln/>
        </p:spPr>
      </p:sp>
      <p:sp>
        <p:nvSpPr>
          <p:cNvPr id="37" name="Text 31"/>
          <p:cNvSpPr/>
          <p:nvPr/>
        </p:nvSpPr>
        <p:spPr>
          <a:xfrm>
            <a:off x="5029200" y="4023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8" name="Text 32"/>
          <p:cNvSpPr/>
          <p:nvPr/>
        </p:nvSpPr>
        <p:spPr>
          <a:xfrm>
            <a:off x="5440680" y="40233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SSE流式返回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数据库设计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011680" cy="17373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01168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用户表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1645920" cy="0"/>
          </a:xfrm>
          <a:prstGeom prst="line">
            <a:avLst/>
          </a:prstGeom>
          <a:noFill/>
          <a:ln w="6350">
            <a:solidFill>
              <a:srgbClr val="7180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659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username, email, phone, membership_level, points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606040" y="1097280"/>
            <a:ext cx="2011680" cy="17373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06040" y="1097280"/>
            <a:ext cx="201168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2606040" y="12344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destinations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06040" y="1554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景点表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88920" y="1874520"/>
            <a:ext cx="1645920" cy="0"/>
          </a:xfrm>
          <a:prstGeom prst="line">
            <a:avLst/>
          </a:prstGeom>
          <a:noFill/>
          <a:ln w="6350">
            <a:solidFill>
              <a:srgbClr val="7180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97480" y="19659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name, city, rating, ticket_price, lng, lat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754880" y="1097280"/>
            <a:ext cx="2011680" cy="17373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097280"/>
            <a:ext cx="201168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2344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trips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0" y="1554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行程表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37760" y="1874520"/>
            <a:ext cx="1645920" cy="0"/>
          </a:xfrm>
          <a:prstGeom prst="line">
            <a:avLst/>
          </a:prstGeom>
          <a:noFill/>
          <a:ln w="6350">
            <a:solidFill>
              <a:srgbClr val="7180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9659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user_id, title, start_date, end_date, status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903720" y="1097280"/>
            <a:ext cx="2011680" cy="17373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03720" y="1097280"/>
            <a:ext cx="201168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6903720" y="12344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favorites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03720" y="1554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收藏表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086600" y="1874520"/>
            <a:ext cx="1645920" cy="0"/>
          </a:xfrm>
          <a:prstGeom prst="line">
            <a:avLst/>
          </a:prstGeom>
          <a:noFill/>
          <a:ln w="6350">
            <a:solidFill>
              <a:srgbClr val="7180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95160" y="19659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user_id, destination_id, created_at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57200" y="3017520"/>
            <a:ext cx="2011680" cy="17373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3017520"/>
            <a:ext cx="20116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3154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travel_note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3474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游记表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0080" y="3794760"/>
            <a:ext cx="1645920" cy="0"/>
          </a:xfrm>
          <a:prstGeom prst="line">
            <a:avLst/>
          </a:prstGeom>
          <a:noFill/>
          <a:ln w="6350">
            <a:solidFill>
              <a:srgbClr val="7180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38862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user_id, title, content, likes_count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606040" y="3017520"/>
            <a:ext cx="2011680" cy="17373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606040" y="3017520"/>
            <a:ext cx="20116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2606040" y="3154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coupon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2606040" y="3474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优惠券表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788920" y="3794760"/>
            <a:ext cx="1645920" cy="0"/>
          </a:xfrm>
          <a:prstGeom prst="line">
            <a:avLst/>
          </a:prstGeom>
          <a:noFill/>
          <a:ln w="6350">
            <a:solidFill>
              <a:srgbClr val="71809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97480" y="38862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code, discount_amount, valid_from, valid_until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754880" y="3017520"/>
            <a:ext cx="2011680" cy="17373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3017520"/>
            <a:ext cx="2011680" cy="54864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42" name="Text 40"/>
          <p:cNvSpPr/>
          <p:nvPr/>
        </p:nvSpPr>
        <p:spPr>
          <a:xfrm>
            <a:off x="4754880" y="3154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754880" y="3474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订单表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937760" y="3794760"/>
            <a:ext cx="1645920" cy="0"/>
          </a:xfrm>
          <a:prstGeom prst="line">
            <a:avLst/>
          </a:prstGeom>
          <a:noFill/>
          <a:ln w="6350">
            <a:solidFill>
              <a:srgbClr val="71809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46320" y="38862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user_id, order_no, total_amount, status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903720" y="3017520"/>
            <a:ext cx="2011680" cy="17373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903720" y="3017520"/>
            <a:ext cx="201168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8" name="Text 46"/>
          <p:cNvSpPr/>
          <p:nvPr/>
        </p:nvSpPr>
        <p:spPr>
          <a:xfrm>
            <a:off x="6903720" y="3154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903720" y="3474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通知表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086600" y="3794760"/>
            <a:ext cx="1645920" cy="0"/>
          </a:xfrm>
          <a:prstGeom prst="line">
            <a:avLst/>
          </a:prstGeom>
          <a:noFill/>
          <a:ln w="6350">
            <a:solidFill>
              <a:srgbClr val="71809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95160" y="38862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user_id, type, title, content, is_read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共计 15 张数据表，支持完整业务逻辑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 性能优化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32004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25880" y="1280160"/>
            <a:ext cx="914400" cy="91440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41732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286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Redis缓存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40080" y="28346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景点列表缓存 5分钟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3200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景点详情缓存 10分钟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3566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元数据缓存 1小时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91840" y="1097280"/>
            <a:ext cx="2651760" cy="32004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160520" y="1280160"/>
            <a:ext cx="914400" cy="91440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417320"/>
            <a:ext cx="640080" cy="6400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91840" y="2286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API限流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3474720" y="28346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景点查询 100次/分钟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474720" y="3200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AI对话 20次/分钟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474720" y="3566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外部API 30次/分钟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126480" y="1097280"/>
            <a:ext cx="2651760" cy="32004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995160" y="1280160"/>
            <a:ext cx="914400" cy="9144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417320"/>
            <a:ext cx="640080" cy="6400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126480" y="2286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数据库优化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6309360" y="28346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复合索引设计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6309360" y="3200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连接池配置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6309360" y="3566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预编译语句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457200" y="4434840"/>
            <a:ext cx="8229600" cy="548640"/>
          </a:xfrm>
          <a:prstGeom prst="rect">
            <a:avLst/>
          </a:prstGeom>
          <a:solidFill>
            <a:srgbClr val="1A1A2E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526280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97280" y="44348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安全机制：JWT认证  |  密码加密(pbkdf2:sha256)  |  全局安全头  |  轮转日志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 项目亮点与创新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16459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164592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3258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41732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3716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AI深度集成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85800" y="201168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支持Kimi、智谱、OpenAI三个AI服务商，自动降级策略保障服务稳定性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1097280"/>
            <a:ext cx="4023360" cy="16459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1" name="Shape 8"/>
          <p:cNvSpPr/>
          <p:nvPr/>
        </p:nvSpPr>
        <p:spPr>
          <a:xfrm>
            <a:off x="4754880" y="1097280"/>
            <a:ext cx="73152" cy="164592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12" name="Shape 9"/>
          <p:cNvSpPr/>
          <p:nvPr/>
        </p:nvSpPr>
        <p:spPr>
          <a:xfrm>
            <a:off x="4983480" y="13258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41732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760720" y="13716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流式响应体验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983480" y="201168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AI对话采用SSE实现逐字显示效果，媲美ChatGPT交互体验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2926080"/>
            <a:ext cx="4023360" cy="16459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7" name="Shape 13"/>
          <p:cNvSpPr/>
          <p:nvPr/>
        </p:nvSpPr>
        <p:spPr>
          <a:xfrm>
            <a:off x="457200" y="2926080"/>
            <a:ext cx="73152" cy="164592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18" name="Shape 14"/>
          <p:cNvSpPr/>
          <p:nvPr/>
        </p:nvSpPr>
        <p:spPr>
          <a:xfrm>
            <a:off x="685800" y="31546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4612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63040" y="32004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完整业务闭环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85800" y="384048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20个功能模块覆盖旅游全场景，从规划到预订到分享完整链路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4754880" y="2926080"/>
            <a:ext cx="4023360" cy="16459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3" name="Shape 18"/>
          <p:cNvSpPr/>
          <p:nvPr/>
        </p:nvSpPr>
        <p:spPr>
          <a:xfrm>
            <a:off x="4754880" y="2926080"/>
            <a:ext cx="73152" cy="164592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24" name="Shape 19"/>
          <p:cNvSpPr/>
          <p:nvPr/>
        </p:nvSpPr>
        <p:spPr>
          <a:xfrm>
            <a:off x="4983480" y="31546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3246120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760720" y="32004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性能优化体系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4983480" y="384048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Redis缓存 + API限流 + 数据库索引，三位一体保障系统性能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065A82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914400"/>
            <a:ext cx="3657600" cy="36576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项目已完成核心功能的开发，实现了AI驱动的个性化旅行规划平台。系统具备完善的20个功能模块，覆盖用户管理、景点推荐、AI对话、行程规划等旅游全场景。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未来展望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286000" y="2926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接入更多AI模型，提升智能对话能力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86000" y="3337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开发移动端APP，实现跨平台体验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86000" y="3749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引入知识图谱，实现更深度的景点关联推荐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86000" y="4160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增加社交功能，打造旅行社区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3200400"/>
            <a:ext cx="4572000" cy="4572000"/>
          </a:xfrm>
          <a:prstGeom prst="ellipse">
            <a:avLst/>
          </a:prstGeom>
          <a:solidFill>
            <a:srgbClr val="065A82">
              <a:alpha val="3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09728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spc="800" kern="0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3657600" y="3383280"/>
            <a:ext cx="1828800" cy="27432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欢迎各位老师提问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小游智能旅行助手  |  毕业设计答辩  |  2026年4月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小游智能旅行助手 - 毕业答辩</dc:title>
  <dc:subject>PptxGenJS Presentation</dc:subject>
  <dc:creator>毕业设计答辩</dc:creator>
  <cp:lastModifiedBy>毕业设计答辩</cp:lastModifiedBy>
  <cp:revision>1</cp:revision>
  <dcterms:created xsi:type="dcterms:W3CDTF">2026-04-23T08:27:41Z</dcterms:created>
  <dcterms:modified xsi:type="dcterms:W3CDTF">2026-04-23T08:27:41Z</dcterms:modified>
</cp:coreProperties>
</file>